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04FC2-6749-C6C3-96DE-E9A1A07D0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E3A4F-928C-D2E9-39DF-4E5FAFCFD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E4473-BE1C-C2DE-20F8-9254ED91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DC83-06B9-0386-AA2A-97480CF6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F1B8E-2974-E0CD-9D67-26E7D0A0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0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4813-DE09-967E-1DED-D3087A56B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9F69C-8CDA-425C-3896-BA7F1A29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A7230-E911-0089-FDB6-DD90A982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B1C9E-54C5-F063-D40F-FD86BC79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8098E-2459-F8E9-890C-AAC0CF24B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09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536E-887F-CE27-8E86-142BED197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8E546-7E3B-6E09-8BA1-01B05413E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6AC0F-48F8-7F7A-85BF-EF28C2BC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D9C12-AD42-59FA-ACC8-1BCDE8B4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15B8C-DC7C-E0E5-E954-8298C6D7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5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195C-A6FC-2101-6F18-4CBC09F1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56BA7-D156-8E9A-65D5-82EC29B71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1370F-2E43-1756-50C5-0EB36B777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6FFA3-3961-3270-9EF9-18EF3F3B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A84CC-F2DC-3B4D-1CF8-00A58D550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F5B5F-55B2-9731-E62B-B10CEB775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0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6010-9C8F-7A32-635C-D31C5109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9757A-0029-7738-7A24-C1AD57BDB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E8C27-35A5-F2C2-88F0-3D8CDA62E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CA814-C170-E00E-C63A-7C0B45446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BF6E3-EB23-7D87-0A09-1CF99424C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0821C9-2CFB-2431-7E85-74111D05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33739D-B566-DCC0-F792-BE352A68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9D79C-BEDE-C6C1-4071-C23D80D2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5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E062-8722-2EB6-E221-AB2B2CB0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83E8F-9E93-9D3F-4132-9F3FE3CF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4912D-4E2A-7440-2DDE-B799B047F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4ACC2-490F-5551-71E9-2BD70B2D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0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6AE3AE-4178-F1FC-0B7D-CBBFE1BA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A6F21C-CA5D-2DB9-C11E-115E35CA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E406F-FB25-50C9-2522-D8D8622C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46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D653-1294-6742-872E-E295DB03B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AA0A-AF60-61C2-57B0-A313F98BC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F48E4-B033-DB57-51FA-0FEEC2D11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53A7C-EAFC-FC5A-8DEF-DD3F32BA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D8211-4EA3-AB6B-40B0-98C6477D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45D05-C74E-F873-CF9B-43C5D442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9523E-E4CD-9FDC-DB45-70D80521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98BE2C-BCE3-33CB-84FA-EBF477BE7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6985F-4D13-18F2-9352-8DA73FCAE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1BDD7-CF4C-939F-F052-4F5F0B08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576B9-0E19-D652-D568-EC7DB8EC0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382AC-C7CC-905A-232E-BA63D6A2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77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0774-98B1-870F-134F-5E069231F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67784-5DFE-9AF9-33DA-021687968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590E5-D5D5-E91F-8C43-403E61694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0093E-7F4F-BC0A-32B8-90B510F3F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F9DFD-CFD0-5524-428B-4E8E19BA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2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C9102-F739-697D-82AF-E61DB4FFD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BBC32-17D1-2241-FF8D-D3CB30EBD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824D2-794A-4EB8-BC3F-7AB05619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2EE1C-F829-E765-88EC-49BF138BA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1E685-0479-9BB1-B8F0-E4744546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7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0B8640-03F6-7A34-FBD1-3244CC6F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B7604-89D4-7467-5AB6-FEDF64F72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B62F4-F138-D3A1-C829-70903EB24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181C1-BA73-4801-ABDD-6FDA9C34EBB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C904C-937B-2CFD-60C5-159A4E2DC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82FE2-5F07-2D5D-7826-BF96CFF58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60388-F73D-4772-8693-B68E2AFFD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5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FF58B-ED0E-8FEE-3BF3-34609A6A1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" t="9091" r="2121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4369A-BB0D-675B-9359-19D71906D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>
                <a:solidFill>
                  <a:schemeClr val="bg1"/>
                </a:solidFill>
              </a:rPr>
              <a:t>Title:</a:t>
            </a:r>
            <a:r>
              <a:rPr lang="en-US" sz="4400">
                <a:solidFill>
                  <a:schemeClr val="bg1"/>
                </a:solidFill>
              </a:rPr>
              <a:t> The Electric Pulse: Analyzing the Current EV Landscape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950F5-4685-536D-448D-B2F2C7C8E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b="1">
                <a:solidFill>
                  <a:schemeClr val="bg1"/>
                </a:solidFill>
              </a:rPr>
              <a:t>Subtitle:</a:t>
            </a:r>
            <a:r>
              <a:rPr lang="en-US" sz="2000">
                <a:solidFill>
                  <a:schemeClr val="bg1"/>
                </a:solidFill>
              </a:rPr>
              <a:t> A Data-Driven Deep Dive into 500 Electric Vehicles</a:t>
            </a:r>
          </a:p>
          <a:p>
            <a:pPr algn="l"/>
            <a:r>
              <a:rPr lang="en-US" sz="2000" b="1">
                <a:solidFill>
                  <a:schemeClr val="bg1"/>
                </a:solidFill>
              </a:rPr>
              <a:t>Presenter:Ubaid Shaikh</a:t>
            </a:r>
            <a:endParaRPr lang="en-US" sz="2000">
              <a:solidFill>
                <a:schemeClr val="bg1"/>
              </a:solidFill>
            </a:endParaRPr>
          </a:p>
          <a:p>
            <a:pPr algn="l"/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15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5CC2C-C3DF-A37A-3E37-C774DEFC6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" r="5599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F7D36-2576-218B-1F79-B2B938D3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Exucutive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2DA7E-AC8E-CA24-3473-08E3F21AF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700" b="1"/>
          </a:p>
          <a:p>
            <a:r>
              <a:rPr lang="en-US" sz="1700" b="1"/>
              <a:t>Overview:</a:t>
            </a:r>
            <a:r>
              <a:rPr lang="en-US" sz="1700"/>
              <a:t> This analysis covers 500 EV records across major Indian cities (Delhi, Mumbai, Pune, Bangalore, etc.).</a:t>
            </a:r>
          </a:p>
          <a:p>
            <a:r>
              <a:rPr lang="en-US" sz="1700" b="1"/>
              <a:t>Key Findings:</a:t>
            </a:r>
            <a:r>
              <a:rPr lang="en-US" sz="1700"/>
              <a:t> Tata and Tesla lead in volume, while battery capacity shows a direct (but non-linear) correlation with price.</a:t>
            </a:r>
          </a:p>
          <a:p>
            <a:r>
              <a:rPr lang="en-US" sz="1700" b="1"/>
              <a:t>Objective:</a:t>
            </a:r>
            <a:r>
              <a:rPr lang="en-US" sz="1700"/>
              <a:t> To identify market gaps and consumer preferences in the evolving EV ecosystem.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9739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B7CD5-6308-713B-59E4-D7D508FF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Market Composition by Brand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C3103-9F65-090C-8CBA-C964C3338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r>
              <a:rPr lang="en-US" sz="2000" b="1"/>
              <a:t>Dominant Players:</a:t>
            </a:r>
            <a:r>
              <a:rPr lang="en-US" sz="2000"/>
              <a:t> Tata, Nissan, and Hyundai appear frequently, suggesting a strong footprint in the mid-range segment.</a:t>
            </a:r>
          </a:p>
          <a:p>
            <a:r>
              <a:rPr lang="en-US" sz="2000" b="1"/>
              <a:t>Luxury vs. Utility:</a:t>
            </a:r>
            <a:r>
              <a:rPr lang="en-US" sz="2000"/>
              <a:t> Tesla and BMW (i3) represent the premium tech-heavy segment, while Mahindra and BYD focus on utility and fleet-friendly options.</a:t>
            </a:r>
          </a:p>
          <a:p>
            <a:r>
              <a:rPr lang="en-US" sz="2000" b="1"/>
              <a:t>Insight:</a:t>
            </a:r>
            <a:r>
              <a:rPr lang="en-US" sz="2000"/>
              <a:t> The market is currently balanced between affordable commuters and high-performance imports.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245C6-E3BE-E254-31A6-C6E304CE8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4" r="33202" b="-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746389-8FE2-9187-F967-45BC9E3D3D62}"/>
                  </a:ext>
                </a:extLst>
              </p:cNvPr>
              <p:cNvSpPr txBox="1"/>
              <p:nvPr/>
            </p:nvSpPr>
            <p:spPr>
              <a:xfrm>
                <a:off x="5677318" y="2728127"/>
                <a:ext cx="20101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746389-8FE2-9187-F967-45BC9E3D3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318" y="2728127"/>
                <a:ext cx="2010166" cy="276999"/>
              </a:xfrm>
              <a:prstGeom prst="rect">
                <a:avLst/>
              </a:prstGeom>
              <a:blipFill>
                <a:blip r:embed="rId3"/>
                <a:stretch>
                  <a:fillRect l="-3636" r="-27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77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1E7CE-4741-5CDD-9545-E208525B0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dirty="0"/>
              <a:t>Battery Capacity vs. Driving Range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91D302-5069-0DEE-5606-C3A46330AD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5393361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The Sweet Spot: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Most vehicles cluster around the $40\text{--}60\text{ kWh}$ capacity range.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Efficiency Metric: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We observe a trend where $1\text{ kWh}$ typically yields between $5\text{--}7\text{ km}$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of range, depending on the manufacturer’s drivetrain efficiency.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Outliers: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Some models achieve "Extreme Range" (over $500\text{ km}$) but at a significant price premium.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2BA562-9F4C-03A1-336F-0D050811F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19" r="1880" b="-1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3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050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0AF57F-46C7-D7E6-AD14-D4D3849AB2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A7ACA8-D798-FF37-8CF0-A46FB0F35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9" y="941832"/>
            <a:ext cx="10506456" cy="2057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000">
                <a:solidFill>
                  <a:schemeClr val="bg1"/>
                </a:solidFill>
              </a:rPr>
              <a:t>Pricing Analysis &amp; Distribution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42DF13-C06A-A988-CD09-4906410829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41248" y="3502152"/>
            <a:ext cx="10506456" cy="26700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Price Spread: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Vehicles range from ₹1,500,000 to over ₹6,000,000.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The "Mass Market" Bracket: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A significant portion of the data points sit in the ₹25L to ₹40L range.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Inflation/Premium Factors: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Prices aren't just determined by battery size; brand prestige and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"Rapid Charging" capabilities add a $15\text{--}20\%$ markup.</a:t>
            </a:r>
          </a:p>
        </p:txBody>
      </p:sp>
    </p:spTree>
    <p:extLst>
      <p:ext uri="{BB962C8B-B14F-4D97-AF65-F5344CB8AC3E}">
        <p14:creationId xmlns:p14="http://schemas.microsoft.com/office/powerpoint/2010/main" val="39950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1B4AA-0A4D-B439-D7AD-CDA4B6B08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33" r="10620"/>
          <a:stretch>
            <a:fillRect/>
          </a:stretch>
        </p:blipFill>
        <p:spPr>
          <a:xfrm>
            <a:off x="4531806" y="10"/>
            <a:ext cx="7660195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12B7E-36BE-1439-7AFE-D8710AB2B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5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600"/>
              <a:t>Charging Infrastructure Preferences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F2080-B2A9-165E-3070-5318A4496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/>
              <a:t>Charging Types:</a:t>
            </a:r>
            <a:r>
              <a:rPr lang="en-US" sz="1600"/>
              <a:t> The data categorizes vehicles into </a:t>
            </a:r>
            <a:r>
              <a:rPr lang="en-US" sz="1600" b="1"/>
              <a:t>Slow, Fast, and Rapid</a:t>
            </a:r>
            <a:r>
              <a:rPr lang="en-US" sz="1600"/>
              <a:t> charging.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/>
              <a:t>Trends:</a:t>
            </a:r>
            <a:endParaRPr lang="en-US" sz="1600"/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600" b="1"/>
              <a:t>Rapid:</a:t>
            </a:r>
            <a:r>
              <a:rPr lang="en-US" sz="1600"/>
              <a:t> Preferred for high-range models (Model Y, Ioniq 5).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600" b="1"/>
              <a:t>Slow/Fast:</a:t>
            </a:r>
            <a:r>
              <a:rPr lang="en-US" sz="1600"/>
              <a:t> Common for urban commuters like the Tigor EV or Leaf.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/>
              <a:t>Impact:</a:t>
            </a:r>
            <a:r>
              <a:rPr lang="en-US" sz="1600"/>
              <a:t> Cities like Pune and Bangalore show a higher density of "Rapid" compatible vehicles.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69045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9E6E6-54CA-2101-6FA2-6A0A6A3FE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078992"/>
            <a:ext cx="6268770" cy="15361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200"/>
              <a:t>Regional Distribution (City Insights)</a:t>
            </a:r>
          </a:p>
        </p:txBody>
      </p:sp>
      <p:sp>
        <p:nvSpPr>
          <p:cNvPr id="17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7279CD-9769-783F-176C-852A517E83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5458" y="3355848"/>
            <a:ext cx="6268770" cy="28254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</a:rPr>
              <a:t>Top Hubs: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 Pune, Mumbai, and Delhi are the primary centers for EV registration in this 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dataset.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</a:rPr>
              <a:t>City-Specific Preferences: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 *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</a:rPr>
              <a:t>Delhi/Mumbai: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 Higher concentration of luxury models (Tesla/BMW).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</a:rPr>
              <a:t>Ahmedabad/Hyderabad: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 Growing adoption of mid-range Tata and Mahindra EVs.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E1726E-EA22-B429-C514-C9E136FE7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5"/>
          <a:stretch>
            <a:fillRect/>
          </a:stretch>
        </p:blipFill>
        <p:spPr>
          <a:xfrm>
            <a:off x="7684006" y="10"/>
            <a:ext cx="45079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9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AEA506-AA0F-B1C5-BECD-29B6D6F9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The Evolution of Range (2018–2024)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A65E9A-8742-71F2-8A48-5EA65DE1B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Historical Context: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Vehicles registered in 2018–2019 averaged lower ranges (approx $200\text{--}250\text{ km}$).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Modern Standards: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Post-2022 registrations show a shift toward $400\text{+ km}$ as the standard consumer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expectation.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Tech Leap: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Battery energy density has improved, allowing newer models to be lighter yet more powerful.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40EE8B-B3FE-F70C-69FA-AF0ECB86E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367" y="2466703"/>
            <a:ext cx="4788505" cy="3192336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2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1727A-E969-C9D5-D786-33C56F4B8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Correlations and Anomalies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115C-C131-58C2-8E6E-57137E78B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b="1"/>
              <a:t>The Price-Range Paradox:</a:t>
            </a:r>
            <a:r>
              <a:rPr lang="en-US" sz="2200"/>
              <a:t> Occasionally, high-priced vehicles have lower ranges (focusing on luxury/speed), while some "Fast" charging mid-tier cars offer better ROI on range.</a:t>
            </a:r>
          </a:p>
          <a:p>
            <a:r>
              <a:rPr lang="en-US" sz="2200" b="1"/>
              <a:t>Battery Degradation Concerns:</a:t>
            </a:r>
            <a:r>
              <a:rPr lang="en-US" sz="2200"/>
              <a:t> The data suggests a need to track older registrations (2018) to see how they perform against modern efficiency benchmarks.</a:t>
            </a:r>
          </a:p>
          <a:p>
            <a:endParaRPr lang="en-US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C29485-3E3C-A811-9987-6318E041D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2" r="25392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7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939A9-BB82-6FF4-4012-CDA43F77A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0" r="3788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951AC-E60E-99A6-391E-CFC7B1280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Conclusion &amp; Future Outlook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441F5B-6E2E-6F1E-1D0F-7B98A5C965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Summary: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 data reflects a maturing market where range anxiety is being solved by better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battery tech.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Next Steps: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* Standardization of "Rapid" charging across all tiers.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Price reduction through localizing battery manufacturing.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Final Quote: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"The future of mobility isn't just electric; it's efficient."</a:t>
            </a:r>
          </a:p>
        </p:txBody>
      </p:sp>
    </p:spTree>
    <p:extLst>
      <p:ext uri="{BB962C8B-B14F-4D97-AF65-F5344CB8AC3E}">
        <p14:creationId xmlns:p14="http://schemas.microsoft.com/office/powerpoint/2010/main" val="3031725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643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 Math</vt:lpstr>
      <vt:lpstr>Google Sans Text</vt:lpstr>
      <vt:lpstr>Office Theme</vt:lpstr>
      <vt:lpstr>Title: The Electric Pulse: Analyzing the Current EV Landscape</vt:lpstr>
      <vt:lpstr>Exucutive summary</vt:lpstr>
      <vt:lpstr>Market Composition by Brand</vt:lpstr>
      <vt:lpstr>Battery Capacity vs. Driving Range</vt:lpstr>
      <vt:lpstr>Pricing Analysis &amp; Distribution</vt:lpstr>
      <vt:lpstr>Charging Infrastructure Preferences</vt:lpstr>
      <vt:lpstr>Regional Distribution (City Insights)</vt:lpstr>
      <vt:lpstr>The Evolution of Range (2018–2024)</vt:lpstr>
      <vt:lpstr>Correlations and Anomalies</vt:lpstr>
      <vt:lpstr>Conclusion &amp; Future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2026-02-26T01:57:46Z</dcterms:created>
  <dcterms:modified xsi:type="dcterms:W3CDTF">2026-02-26T03:01:20Z</dcterms:modified>
</cp:coreProperties>
</file>